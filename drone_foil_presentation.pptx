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AaYZf+2E4S7MG2aAzP/4+jO9p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8cb59516a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8cb59516a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8cb59516a_1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8cb59516a_1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8cb59516a_1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8cb59516a_1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rgbClr val="1A1A2E"/>
                </a:solidFill>
              </a:rPr>
              <a:t>3 couches de mousse superposées (5,7 cm total). Proue arrondie et nez relevé inspirés des flotteurs de wingfoil. Principe d'Archimède vérifié : volume &gt; 5 L pour masse ~5 kg.</a:t>
            </a:r>
            <a:endParaRPr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rgbClr val="1A1A2E"/>
                </a:solidFill>
              </a:rPr>
              <a:t>2 flotteurs en mousse (~1 L chacun), fixés à l'arrière par tiges rigides et velcro. N'entrent pas en contact avec l'eau en conditions normales — interviennent uniquement en forte gîte pour protéger l'électronique.</a:t>
            </a:r>
            <a:endParaRPr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rgbClr val="1A1A2E"/>
                </a:solidFill>
              </a:rPr>
              <a:t>Étanchéité par presse-étoupes (IP67). Composants fixés au velcro pour repositionnement rapide. Boîtier déplaçable le long de la planche pour ajuster le centre de gravité.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rgbClr val="1A1A2E"/>
              </a:solidFill>
            </a:endParaRPr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Foil en T : </a:t>
            </a:r>
            <a:r>
              <a:rPr lang="en-US" sz="1100">
                <a:solidFill>
                  <a:srgbClr val="1A1A2E"/>
                </a:solidFill>
              </a:rPr>
              <a:t>Lorsque la vitesse des moteurs augmente, le foil se soulève progressivement jusqu'à sortir de l'eau et entraîner le drone vers l'avant.</a:t>
            </a:r>
            <a:r>
              <a:rPr lang="en-US" sz="1100"/>
              <a:t> </a:t>
            </a:r>
            <a:r>
              <a:rPr lang="en-US" sz="1100">
                <a:solidFill>
                  <a:srgbClr val="1A1A2E"/>
                </a:solidFill>
              </a:rPr>
              <a:t>→ Décrochage non maîtrisé même en repositionnant le centre de masse.</a:t>
            </a:r>
            <a:endParaRPr sz="1100"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1A2E"/>
                </a:solidFill>
              </a:rPr>
              <a:t>Foil autoadaptatif : Principe : quand le foil se lève, la surface immergée diminue → portance réduite → stabilisation naturelle à vitesse constante.</a:t>
            </a:r>
            <a:r>
              <a:rPr lang="en-US" sz="1100"/>
              <a:t> </a:t>
            </a:r>
            <a:r>
              <a:rPr lang="en-US" sz="1100">
                <a:solidFill>
                  <a:srgbClr val="1A1A2E"/>
                </a:solidFill>
              </a:rPr>
              <a:t>Conception SolidWorks avec profil NACA repris. 3 sections : portance haute/basse + incidence neutre au creux de courbure.</a:t>
            </a:r>
            <a:endParaRPr sz="1100"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300">
                <a:solidFill>
                  <a:srgbClr val="065A82"/>
                </a:solidFill>
              </a:rPr>
              <a:t>Fixation horizontale : </a:t>
            </a:r>
            <a:r>
              <a:rPr lang="en-US" sz="1100">
                <a:solidFill>
                  <a:srgbClr val="1A1A2E"/>
                </a:solidFill>
              </a:rPr>
              <a:t>Sous le drone — simple, robuste, imprimable. Perturbation hydrodynamique limitée.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065A8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300">
                <a:solidFill>
                  <a:srgbClr val="1C7293"/>
                </a:solidFill>
              </a:rPr>
              <a:t>Fixation verticale : </a:t>
            </a:r>
            <a:r>
              <a:rPr lang="en-US" sz="1100">
                <a:solidFill>
                  <a:srgbClr val="1A1A2E"/>
                </a:solidFill>
              </a:rPr>
              <a:t>Montée latéralement — minimise les perturbations d'écoulement. Impression 3D plus délicate.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1C72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2E"/>
              </a:solidFill>
            </a:endParaRPr>
          </a:p>
        </p:txBody>
      </p:sp>
      <p:sp>
        <p:nvSpPr>
          <p:cNvPr id="341" name="Google Shape;3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021B3E"/>
                </a:solidFill>
              </a:rPr>
              <a:t>Foil en T (classique) : </a:t>
            </a:r>
            <a:r>
              <a:rPr lang="en-US" sz="1000">
                <a:solidFill>
                  <a:srgbClr val="1C7293"/>
                </a:solidFill>
              </a:rPr>
              <a:t>✓ Bonne flottabilité et stabilité latérale. Décollage répétable obtenu par accélération progressive.</a:t>
            </a:r>
            <a:r>
              <a:rPr lang="en-US" sz="1000"/>
              <a:t> </a:t>
            </a:r>
            <a:r>
              <a:rPr lang="en-US" sz="1000">
                <a:solidFill>
                  <a:srgbClr val="E07B39"/>
                </a:solidFill>
              </a:rPr>
              <a:t>⚠ Forte instabilité en tangage — cabrages fréquents. Limité par la longueur du bassin.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400"/>
              <a:buFont typeface="Calibri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021B3E"/>
                </a:solidFill>
              </a:rPr>
              <a:t>Foil à moustache (auto-adaptatif) : </a:t>
            </a:r>
            <a:r>
              <a:rPr lang="en-US" sz="1000">
                <a:solidFill>
                  <a:srgbClr val="1C7293"/>
                </a:solidFill>
              </a:rPr>
              <a:t>✓ Bon décollage confirmé également. Comportement similaire au foil en T. </a:t>
            </a:r>
            <a:r>
              <a:rPr lang="en-US" sz="1000">
                <a:solidFill>
                  <a:srgbClr val="E07B39"/>
                </a:solidFill>
              </a:rPr>
              <a:t>⚠ Auto-stabilisation attendue non nettement constatée — cabrage récurrent toujours présent.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>
                <a:solidFill>
                  <a:srgbClr val="1A1A2E"/>
                </a:solidFill>
              </a:rPr>
              <a:t>→ Clé de succès : lisser manuellement l'accélération initiale (montée) puis décélération lente (stabilisation). Ce contrôle sera automatisé via le capteur de hauteur.</a:t>
            </a:r>
            <a:endParaRPr sz="1000">
              <a:solidFill>
                <a:srgbClr val="1C72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400"/>
              <a:buFont typeface="Calibri"/>
              <a:buNone/>
            </a:pPr>
            <a:r>
              <a:t/>
            </a:r>
            <a:endParaRPr b="1" sz="1400">
              <a:solidFill>
                <a:srgbClr val="021B3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8cb59516a_1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d8cb59516a_1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d8cb59516a_1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8cb59516a_1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8cb59516a_1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d8cb59516a_1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8cb59516a_1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d8cb59516a_1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d8cb59516a_1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3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6.jpg"/><Relationship Id="rId6" Type="http://schemas.openxmlformats.org/officeDocument/2006/relationships/image" Target="../media/image32.gif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v_MxClinVnfZcKmZimxBo6bCr2z3tGTd/view" TargetMode="External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2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hyperlink" Target="http://drive.google.com/file/d/1HljCZc4WJ2yWohB7XuUtABXySCaAOCO-/view" TargetMode="External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"/>
          <p:cNvGrpSpPr/>
          <p:nvPr/>
        </p:nvGrpSpPr>
        <p:grpSpPr>
          <a:xfrm>
            <a:off x="457200" y="1333500"/>
            <a:ext cx="4781550" cy="1905000"/>
            <a:chOff x="457200" y="1333500"/>
            <a:chExt cx="4781550" cy="1905000"/>
          </a:xfrm>
        </p:grpSpPr>
        <p:sp>
          <p:nvSpPr>
            <p:cNvPr id="19" name="Google Shape;19;p1"/>
            <p:cNvSpPr/>
            <p:nvPr/>
          </p:nvSpPr>
          <p:spPr>
            <a:xfrm>
              <a:off x="457200" y="1333500"/>
              <a:ext cx="57300" cy="190500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 txBox="1"/>
            <p:nvPr/>
          </p:nvSpPr>
          <p:spPr>
            <a:xfrm>
              <a:off x="666750" y="1333500"/>
              <a:ext cx="457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DRONE À FOIL</a:t>
              </a:r>
              <a:endParaRPr b="1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 txBox="1"/>
            <p:nvPr/>
          </p:nvSpPr>
          <p:spPr>
            <a:xfrm>
              <a:off x="666750" y="2476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2C39A"/>
                  </a:solidFill>
                  <a:latin typeface="Calibri"/>
                  <a:ea typeface="Calibri"/>
                  <a:cs typeface="Calibri"/>
                  <a:sym typeface="Calibri"/>
                </a:rPr>
                <a:t>TÉLÉCOMMANDÉ</a:t>
              </a:r>
              <a:endParaRPr b="0" sz="2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2C39A"/>
                  </a:solidFill>
                  <a:latin typeface="Calibri"/>
                  <a:ea typeface="Calibri"/>
                  <a:cs typeface="Calibri"/>
                  <a:sym typeface="Calibri"/>
                </a:rPr>
                <a:t>avec STABILISATION GYROSCOPIQUE</a:t>
              </a:r>
              <a:endParaRPr b="0" sz="2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1"/>
          <p:cNvGrpSpPr/>
          <p:nvPr/>
        </p:nvGrpSpPr>
        <p:grpSpPr>
          <a:xfrm>
            <a:off x="666750" y="3429000"/>
            <a:ext cx="4572000" cy="762000"/>
            <a:chOff x="666750" y="3429000"/>
            <a:chExt cx="4572000" cy="762000"/>
          </a:xfrm>
        </p:grpSpPr>
        <p:sp>
          <p:nvSpPr>
            <p:cNvPr id="23" name="Google Shape;23;p1"/>
            <p:cNvSpPr txBox="1"/>
            <p:nvPr/>
          </p:nvSpPr>
          <p:spPr>
            <a:xfrm>
              <a:off x="666750" y="342900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>
                  <a:solidFill>
                    <a:srgbClr val="C0D8E8"/>
                  </a:solidFill>
                  <a:latin typeface="Calibri"/>
                  <a:ea typeface="Calibri"/>
                  <a:cs typeface="Calibri"/>
                  <a:sym typeface="Calibri"/>
                </a:rPr>
                <a:t>Bernard-Lameau · Collange · Duchemin · Hurard · Hureau</a:t>
              </a:r>
              <a:endParaRPr b="0" i="1" sz="1400">
                <a:solidFill>
                  <a:srgbClr val="C0D8E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 txBox="1"/>
            <p:nvPr/>
          </p:nvSpPr>
          <p:spPr>
            <a:xfrm>
              <a:off x="666750" y="381000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Encadrant : M. Anthierens — SeaTech / Université de Toulon</a:t>
              </a:r>
              <a:endPara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1"/>
          <p:cNvSpPr txBox="1"/>
          <p:nvPr/>
        </p:nvSpPr>
        <p:spPr>
          <a:xfrm>
            <a:off x="457200" y="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Soutenance de Projet — SYSMER 2A | Année 2025-2026</a:t>
            </a:r>
            <a:endParaRPr b="0" sz="1600">
              <a:solidFill>
                <a:srgbClr val="A0C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1"/>
          <p:cNvGrpSpPr/>
          <p:nvPr/>
        </p:nvGrpSpPr>
        <p:grpSpPr>
          <a:xfrm>
            <a:off x="5448300" y="1143000"/>
            <a:ext cx="3238500" cy="3238500"/>
            <a:chOff x="5448300" y="1143000"/>
            <a:chExt cx="3238500" cy="3238500"/>
          </a:xfrm>
        </p:grpSpPr>
        <p:pic>
          <p:nvPicPr>
            <p:cNvPr id="27" name="Google Shape;27;p1"/>
            <p:cNvPicPr preferRelativeResize="0"/>
            <p:nvPr/>
          </p:nvPicPr>
          <p:blipFill rotWithShape="1">
            <a:blip r:embed="rId4">
              <a:alphaModFix/>
            </a:blip>
            <a:srcRect b="0" l="12503" r="12495" t="0"/>
            <a:stretch/>
          </p:blipFill>
          <p:spPr>
            <a:xfrm>
              <a:off x="5448300" y="1143000"/>
              <a:ext cx="32385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8" name="Google Shape;28;p1"/>
            <p:cNvSpPr/>
            <p:nvPr/>
          </p:nvSpPr>
          <p:spPr>
            <a:xfrm>
              <a:off x="5448300" y="1143000"/>
              <a:ext cx="3238500" cy="3238500"/>
            </a:xfrm>
            <a:prstGeom prst="roundRect">
              <a:avLst>
                <a:gd fmla="val 5882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57200" y="2857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Plan de la présentation</a:t>
            </a:r>
            <a:endParaRPr b="1" sz="3600">
              <a:solidFill>
                <a:srgbClr val="02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5;p2"/>
          <p:cNvGrpSpPr/>
          <p:nvPr/>
        </p:nvGrpSpPr>
        <p:grpSpPr>
          <a:xfrm>
            <a:off x="457200" y="1143000"/>
            <a:ext cx="8229450" cy="3238500"/>
            <a:chOff x="457200" y="1143000"/>
            <a:chExt cx="8229450" cy="3238500"/>
          </a:xfrm>
        </p:grpSpPr>
        <p:sp>
          <p:nvSpPr>
            <p:cNvPr id="36" name="Google Shape;36;p2"/>
            <p:cNvSpPr/>
            <p:nvPr/>
          </p:nvSpPr>
          <p:spPr>
            <a:xfrm>
              <a:off x="457200" y="1143000"/>
              <a:ext cx="39432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0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57200" y="1143000"/>
              <a:ext cx="95400" cy="952500"/>
            </a:xfrm>
            <a:prstGeom prst="roundRect">
              <a:avLst>
                <a:gd fmla="val 40000" name="adj"/>
              </a:avLst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 txBox="1"/>
            <p:nvPr/>
          </p:nvSpPr>
          <p:spPr>
            <a:xfrm>
              <a:off x="647700" y="1143000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1. Contexte &amp; objectifs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Origine du projet, cahier des charges, attendus</a:t>
              </a:r>
              <a:endParaRPr sz="13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743450" y="1143000"/>
              <a:ext cx="39432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0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743450" y="1143000"/>
              <a:ext cx="95400" cy="952500"/>
            </a:xfrm>
            <a:prstGeom prst="roundRect">
              <a:avLst>
                <a:gd fmla="val 400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 txBox="1"/>
            <p:nvPr/>
          </p:nvSpPr>
          <p:spPr>
            <a:xfrm>
              <a:off x="4933950" y="1143000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2. Analyse fonctionnelle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Interacteurs, fonctions de service et de contrainte</a:t>
              </a:r>
              <a:endParaRPr sz="13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57200" y="2286000"/>
              <a:ext cx="39432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0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57200" y="2286000"/>
              <a:ext cx="95400" cy="952500"/>
            </a:xfrm>
            <a:prstGeom prst="roundRect">
              <a:avLst>
                <a:gd fmla="val 40000" name="adj"/>
              </a:avLst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 txBox="1"/>
            <p:nvPr/>
          </p:nvSpPr>
          <p:spPr>
            <a:xfrm>
              <a:off x="647700" y="2286000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3. Système gyroscopique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Simulation, nouvelle architecture en U, composants</a:t>
              </a:r>
              <a:endParaRPr sz="13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743450" y="2286000"/>
              <a:ext cx="39432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0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743450" y="2286000"/>
              <a:ext cx="95400" cy="952500"/>
            </a:xfrm>
            <a:prstGeom prst="roundRect">
              <a:avLst>
                <a:gd fmla="val 400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 txBox="1"/>
            <p:nvPr/>
          </p:nvSpPr>
          <p:spPr>
            <a:xfrm>
              <a:off x="4933950" y="2286000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4. Système embarqué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Hardware, BlueOS, scripts Lua, télécommande</a:t>
              </a:r>
              <a:endParaRPr sz="13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57200" y="3429000"/>
              <a:ext cx="39432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0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57200" y="3429000"/>
              <a:ext cx="95400" cy="952500"/>
            </a:xfrm>
            <a:prstGeom prst="roundRect">
              <a:avLst>
                <a:gd fmla="val 40000" name="adj"/>
              </a:avLst>
            </a:prstGeom>
            <a:solidFill>
              <a:srgbClr val="02C3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647700" y="3429000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5. Maquette &amp; essais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Planche, foil auto adaptatif, résultats en bassin</a:t>
              </a:r>
              <a:endParaRPr sz="13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743450" y="3429000"/>
              <a:ext cx="39432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0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743450" y="3429000"/>
              <a:ext cx="95400" cy="952500"/>
            </a:xfrm>
            <a:prstGeom prst="roundRect">
              <a:avLst>
                <a:gd fmla="val 40000" name="adj"/>
              </a:avLst>
            </a:prstGeom>
            <a:solidFill>
              <a:srgbClr val="02C3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 txBox="1"/>
            <p:nvPr/>
          </p:nvSpPr>
          <p:spPr>
            <a:xfrm>
              <a:off x="4933950" y="3429000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6. Axes d'évolution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Commande, gyroscope, foil, protocoles futurs</a:t>
              </a:r>
              <a:endParaRPr sz="13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9144000" cy="905400"/>
          </a:xfrm>
          <a:prstGeom prst="rect">
            <a:avLst/>
          </a:prstGeom>
          <a:solidFill>
            <a:srgbClr val="021B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457200" y="480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— Contexte &amp; objectifs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143000"/>
            <a:ext cx="4000500" cy="36195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3"/>
          <p:cNvGrpSpPr/>
          <p:nvPr/>
        </p:nvGrpSpPr>
        <p:grpSpPr>
          <a:xfrm>
            <a:off x="647700" y="1333500"/>
            <a:ext cx="3619500" cy="3238650"/>
            <a:chOff x="647700" y="1333500"/>
            <a:chExt cx="3619500" cy="3238650"/>
          </a:xfrm>
        </p:grpSpPr>
        <p:sp>
          <p:nvSpPr>
            <p:cNvPr id="64" name="Google Shape;64;p3"/>
            <p:cNvSpPr txBox="1"/>
            <p:nvPr/>
          </p:nvSpPr>
          <p:spPr>
            <a:xfrm>
              <a:off x="647700" y="13335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Origine du projet</a:t>
              </a:r>
              <a:endParaRPr b="1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3"/>
            <p:cNvSpPr txBox="1"/>
            <p:nvPr/>
          </p:nvSpPr>
          <p:spPr>
            <a:xfrm>
              <a:off x="647700" y="1809750"/>
              <a:ext cx="3619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Ce projet s'inscrit dans la continuité des travaux menés par d'anciens élèves </a:t>
              </a:r>
              <a:r>
                <a:rPr b="1"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SYSMER</a:t>
              </a: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, en partenariat avec l'entreprise </a:t>
              </a:r>
              <a:r>
                <a:rPr b="1" lang="en-US" sz="1100">
                  <a:solidFill>
                    <a:srgbClr val="065A82"/>
                  </a:solidFill>
                  <a:latin typeface="Calibri"/>
                  <a:ea typeface="Calibri"/>
                  <a:cs typeface="Calibri"/>
                  <a:sym typeface="Calibri"/>
                </a:rPr>
                <a:t>ZYX Blue</a:t>
              </a: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Objectif général :</a:t>
              </a:r>
              <a:endParaRPr b="1" sz="13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Concevoir un drone de surface à foil télécommandé</a:t>
              </a: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système de stabilisation gyroscopique</a:t>
              </a:r>
              <a:endParaRPr b="1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Héritage des promotions précédentes :</a:t>
              </a:r>
              <a:endParaRPr b="1" sz="11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1A2E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Architecture gyroscopique de base</a:t>
              </a:r>
              <a:endParaRPr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A1A2E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Foil en T fonctionnel</a:t>
              </a:r>
              <a:endParaRPr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A1A2E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Maquette initiale (à reprendre)</a:t>
              </a:r>
              <a:endParaRPr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3"/>
          <p:cNvSpPr txBox="1"/>
          <p:nvPr/>
        </p:nvSpPr>
        <p:spPr>
          <a:xfrm>
            <a:off x="4876800" y="1143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Nos 3 axes de travail</a:t>
            </a:r>
            <a:endParaRPr b="1" sz="1800">
              <a:solidFill>
                <a:srgbClr val="02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" name="Google Shape;67;p3"/>
          <p:cNvGrpSpPr/>
          <p:nvPr/>
        </p:nvGrpSpPr>
        <p:grpSpPr>
          <a:xfrm>
            <a:off x="4876800" y="1666875"/>
            <a:ext cx="3810000" cy="904800"/>
            <a:chOff x="4876800" y="1666875"/>
            <a:chExt cx="3810000" cy="904800"/>
          </a:xfrm>
        </p:grpSpPr>
        <p:sp>
          <p:nvSpPr>
            <p:cNvPr id="68" name="Google Shape;68;p3"/>
            <p:cNvSpPr/>
            <p:nvPr/>
          </p:nvSpPr>
          <p:spPr>
            <a:xfrm>
              <a:off x="4876800" y="1666875"/>
              <a:ext cx="3810000" cy="9048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76800" y="1666875"/>
              <a:ext cx="76200" cy="904800"/>
            </a:xfrm>
            <a:prstGeom prst="roundRect">
              <a:avLst>
                <a:gd fmla="val 50000" name="adj"/>
              </a:avLst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 txBox="1"/>
            <p:nvPr/>
          </p:nvSpPr>
          <p:spPr>
            <a:xfrm>
              <a:off x="5067300" y="166687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Système embarqué</a:t>
              </a:r>
              <a:endParaRPr b="1" sz="14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BlueOS, commande moteurs, télécommande, capteur de hauteur</a:t>
              </a:r>
              <a:endParaRPr sz="11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3"/>
          <p:cNvGrpSpPr/>
          <p:nvPr/>
        </p:nvGrpSpPr>
        <p:grpSpPr>
          <a:xfrm>
            <a:off x="4876800" y="2714625"/>
            <a:ext cx="3810000" cy="904800"/>
            <a:chOff x="4876800" y="2714625"/>
            <a:chExt cx="3810000" cy="904800"/>
          </a:xfrm>
        </p:grpSpPr>
        <p:sp>
          <p:nvSpPr>
            <p:cNvPr id="72" name="Google Shape;72;p3"/>
            <p:cNvSpPr/>
            <p:nvPr/>
          </p:nvSpPr>
          <p:spPr>
            <a:xfrm>
              <a:off x="4876800" y="2714625"/>
              <a:ext cx="3810000" cy="9048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76800" y="2714625"/>
              <a:ext cx="76200" cy="904800"/>
            </a:xfrm>
            <a:prstGeom prst="roundRect">
              <a:avLst>
                <a:gd fmla="val 500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 txBox="1"/>
            <p:nvPr/>
          </p:nvSpPr>
          <p:spPr>
            <a:xfrm>
              <a:off x="5067300" y="271462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Gyroscope</a:t>
              </a:r>
              <a:endParaRPr b="1" sz="14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Nouvelle architecture mécanique compacte en U</a:t>
              </a:r>
              <a:endParaRPr sz="11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3"/>
          <p:cNvGrpSpPr/>
          <p:nvPr/>
        </p:nvGrpSpPr>
        <p:grpSpPr>
          <a:xfrm>
            <a:off x="4876800" y="3762375"/>
            <a:ext cx="3810000" cy="904800"/>
            <a:chOff x="4876800" y="3762375"/>
            <a:chExt cx="3810000" cy="904800"/>
          </a:xfrm>
        </p:grpSpPr>
        <p:sp>
          <p:nvSpPr>
            <p:cNvPr id="76" name="Google Shape;76;p3"/>
            <p:cNvSpPr/>
            <p:nvPr/>
          </p:nvSpPr>
          <p:spPr>
            <a:xfrm>
              <a:off x="4876800" y="3762375"/>
              <a:ext cx="3810000" cy="9048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4876800" y="3762375"/>
              <a:ext cx="76200" cy="904800"/>
            </a:xfrm>
            <a:prstGeom prst="roundRect">
              <a:avLst>
                <a:gd fmla="val 50000" name="adj"/>
              </a:avLst>
            </a:prstGeom>
            <a:solidFill>
              <a:srgbClr val="02C3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 txBox="1"/>
            <p:nvPr/>
          </p:nvSpPr>
          <p:spPr>
            <a:xfrm>
              <a:off x="5067300" y="376237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1B3E"/>
                  </a:solidFill>
                  <a:latin typeface="Calibri"/>
                  <a:ea typeface="Calibri"/>
                  <a:cs typeface="Calibri"/>
                  <a:sym typeface="Calibri"/>
                </a:rPr>
                <a:t>Foil</a:t>
              </a:r>
              <a:endParaRPr b="1" sz="14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Conception d'un foil autoadaptatif pour éviter le décrochage</a:t>
              </a:r>
              <a:endParaRPr sz="1100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3"/>
          <p:cNvSpPr txBox="1"/>
          <p:nvPr/>
        </p:nvSpPr>
        <p:spPr>
          <a:xfrm>
            <a:off x="8572500" y="4797552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21B3E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sailing</a:t>
            </a:r>
            <a:endParaRPr sz="2400">
              <a:solidFill>
                <a:srgbClr val="021B3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80" name="Google Shape;8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3" title="VisuelFoilComplet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3674" y="3538723"/>
            <a:ext cx="1045850" cy="103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9144000" cy="903900"/>
          </a:xfrm>
          <a:prstGeom prst="rect">
            <a:avLst/>
          </a:prstGeom>
          <a:solidFill>
            <a:srgbClr val="021B3E"/>
          </a:solidFill>
          <a:ln cap="flat" cmpd="sng" w="12700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57200" y="131855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— Cahier des charges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Exigences techniques clées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4"/>
          <p:cNvGrpSpPr/>
          <p:nvPr/>
        </p:nvGrpSpPr>
        <p:grpSpPr>
          <a:xfrm>
            <a:off x="457200" y="1524000"/>
            <a:ext cx="6191100" cy="3333750"/>
            <a:chOff x="457200" y="1524000"/>
            <a:chExt cx="6191100" cy="3333750"/>
          </a:xfrm>
        </p:grpSpPr>
        <p:sp>
          <p:nvSpPr>
            <p:cNvPr id="91" name="Google Shape;91;p4"/>
            <p:cNvSpPr/>
            <p:nvPr/>
          </p:nvSpPr>
          <p:spPr>
            <a:xfrm>
              <a:off x="457200" y="1524000"/>
              <a:ext cx="20001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 txBox="1"/>
            <p:nvPr/>
          </p:nvSpPr>
          <p:spPr>
            <a:xfrm>
              <a:off x="552450" y="1619250"/>
              <a:ext cx="18096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Vitesse min.</a:t>
              </a:r>
              <a:endParaRPr b="1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≥ 2 nœuds </a:t>
              </a:r>
              <a:endParaRPr b="0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2552700" y="1524000"/>
              <a:ext cx="20001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2647950" y="1619250"/>
              <a:ext cx="18096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Charge utile</a:t>
              </a:r>
              <a:endParaRPr b="1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≥ 0,5 kg</a:t>
              </a:r>
              <a:endParaRPr b="0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648200" y="1524000"/>
              <a:ext cx="20001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 txBox="1"/>
            <p:nvPr/>
          </p:nvSpPr>
          <p:spPr>
            <a:xfrm>
              <a:off x="4743450" y="1619250"/>
              <a:ext cx="18096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Stabilité assiette</a:t>
              </a:r>
              <a:endParaRPr b="1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±10° </a:t>
              </a:r>
              <a:r>
                <a:rPr b="0" lang="en-US" sz="11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sur foils</a:t>
              </a:r>
              <a:endParaRPr b="0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457200" y="2905125"/>
              <a:ext cx="20001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 txBox="1"/>
            <p:nvPr/>
          </p:nvSpPr>
          <p:spPr>
            <a:xfrm>
              <a:off x="552450" y="3000375"/>
              <a:ext cx="18096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Étanchéité</a:t>
              </a:r>
              <a:endParaRPr b="1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IP6</a:t>
              </a:r>
              <a:r>
                <a:rPr lang="en-US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-US" sz="1100">
                  <a:solidFill>
                    <a:srgbClr val="5A7A8A"/>
                  </a:solidFill>
                  <a:latin typeface="Calibri"/>
                  <a:ea typeface="Calibri"/>
                  <a:cs typeface="Calibri"/>
                  <a:sym typeface="Calibri"/>
                </a:rPr>
                <a:t>minimum</a:t>
              </a:r>
              <a:endParaRPr b="0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552700" y="2905125"/>
              <a:ext cx="20001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 txBox="1"/>
            <p:nvPr/>
          </p:nvSpPr>
          <p:spPr>
            <a:xfrm>
              <a:off x="2647950" y="3000375"/>
              <a:ext cx="18096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Masse totale</a:t>
              </a:r>
              <a:endParaRPr b="1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&lt; 6 kg</a:t>
              </a:r>
              <a:endParaRPr b="0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4648200" y="2905125"/>
              <a:ext cx="20001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 txBox="1"/>
            <p:nvPr/>
          </p:nvSpPr>
          <p:spPr>
            <a:xfrm>
              <a:off x="4743450" y="3000375"/>
              <a:ext cx="18096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Alimentation</a:t>
              </a:r>
              <a:endParaRPr b="1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Batterie 3S </a:t>
              </a:r>
              <a:endParaRPr b="0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457200" y="428625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chemeClr val="lt1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 txBox="1"/>
            <p:nvPr/>
          </p:nvSpPr>
          <p:spPr>
            <a:xfrm>
              <a:off x="552450" y="4333875"/>
              <a:ext cx="3905400" cy="47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Capteur hauteur :		 </a:t>
              </a:r>
              <a:r>
                <a:rPr lang="en-US" sz="12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Portée ≥ 2 m, fréq. ≥ 10 Hz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4648200" y="4286250"/>
              <a:ext cx="2000100" cy="571500"/>
            </a:xfrm>
            <a:prstGeom prst="roundRect">
              <a:avLst>
                <a:gd fmla="val 13333" name="adj"/>
              </a:avLst>
            </a:prstGeom>
            <a:solidFill>
              <a:schemeClr val="lt1"/>
            </a:solidFill>
            <a:ln cap="flat" cmpd="sng" w="9525">
              <a:solidFill>
                <a:srgbClr val="D0E4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4743450" y="43338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Portée radio :       </a:t>
              </a:r>
              <a:r>
                <a:rPr lang="en-US" sz="1200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50 m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4"/>
          <p:cNvGrpSpPr/>
          <p:nvPr/>
        </p:nvGrpSpPr>
        <p:grpSpPr>
          <a:xfrm>
            <a:off x="6810375" y="1524000"/>
            <a:ext cx="2095500" cy="3333900"/>
            <a:chOff x="6810375" y="1524000"/>
            <a:chExt cx="2095500" cy="3333900"/>
          </a:xfrm>
        </p:grpSpPr>
        <p:sp>
          <p:nvSpPr>
            <p:cNvPr id="108" name="Google Shape;108;p4"/>
            <p:cNvSpPr/>
            <p:nvPr/>
          </p:nvSpPr>
          <p:spPr>
            <a:xfrm>
              <a:off x="6810375" y="1524000"/>
              <a:ext cx="2095500" cy="3333900"/>
            </a:xfrm>
            <a:prstGeom prst="roundRect">
              <a:avLst>
                <a:gd fmla="val 3636" name="adj"/>
              </a:avLst>
            </a:prstGeom>
            <a:solidFill>
              <a:srgbClr val="021B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6810375" y="1524000"/>
              <a:ext cx="2095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Composants :</a:t>
              </a:r>
              <a:endParaRPr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Raspberry Pi 5 + Navigator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4 ESC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Taranis QX7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Moteur 600KV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Motoréducteur 12V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Potentiomètre 10t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D0E4EE"/>
                </a:buClr>
                <a:buSzPts val="1150"/>
                <a:buFont typeface="Calibri"/>
                <a:buChar char="●"/>
              </a:pPr>
              <a:r>
                <a:rPr i="1" lang="en-US" sz="1150">
                  <a:solidFill>
                    <a:srgbClr val="D0E4EE"/>
                  </a:solidFill>
                  <a:latin typeface="Calibri"/>
                  <a:ea typeface="Calibri"/>
                  <a:cs typeface="Calibri"/>
                  <a:sym typeface="Calibri"/>
                </a:rPr>
                <a:t>Disque métal 1 kg</a:t>
              </a:r>
              <a:endParaRPr i="1" sz="1150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 title="analyse_fonctionne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612" y="903588"/>
            <a:ext cx="4041235" cy="383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— Analyse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onctionnelle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 title="beteacorn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25" y="1318101"/>
            <a:ext cx="4625550" cy="286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177038" y="4186075"/>
            <a:ext cx="25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1" lang="en-US" sz="1300">
                <a:latin typeface="Calibri"/>
                <a:ea typeface="Calibri"/>
                <a:cs typeface="Calibri"/>
                <a:sym typeface="Calibri"/>
              </a:rPr>
              <a:t>ête à cornes du système</a:t>
            </a:r>
            <a:endParaRPr b="1" i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5627588" y="4692025"/>
            <a:ext cx="25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latin typeface="Calibri"/>
                <a:ea typeface="Calibri"/>
                <a:cs typeface="Calibri"/>
                <a:sym typeface="Calibri"/>
              </a:rPr>
              <a:t>Diagramme pieuvre du système</a:t>
            </a:r>
            <a:endParaRPr b="1" i="1"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— Système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yroscopique :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imulation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109729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Choix de l'axe prioritaire : Tangage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1645927"/>
            <a:ext cx="4023300" cy="3312900"/>
          </a:xfrm>
          <a:prstGeom prst="rect">
            <a:avLst/>
          </a:prstGeom>
          <a:solidFill>
            <a:srgbClr val="EFF6FB"/>
          </a:solidFill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94360" y="1737360"/>
            <a:ext cx="1371600" cy="3017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94360" y="208483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Tangage (Axe 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94335" y="2039100"/>
            <a:ext cx="3749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position du gyroscope agit linéairement sur la réactivité. Un décalage même mineur entraîne une erreur statique permanente (nez plongé/cabré). → Axe PRIORITAIRE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46325" y="1645927"/>
            <a:ext cx="4023300" cy="3312900"/>
          </a:xfrm>
          <a:prstGeom prst="rect">
            <a:avLst/>
          </a:prstGeom>
          <a:solidFill>
            <a:srgbClr val="EFF6FB"/>
          </a:solidFill>
          <a:ln cap="flat" cmpd="sng" w="25400">
            <a:solidFill>
              <a:srgbClr val="5A7A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983480" y="1737360"/>
            <a:ext cx="1371600" cy="301752"/>
          </a:xfrm>
          <a:prstGeom prst="rect">
            <a:avLst/>
          </a:prstGeom>
          <a:solidFill>
            <a:srgbClr val="5A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983480" y="208483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Roulis (Axe 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017055" y="2039100"/>
            <a:ext cx="3749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position longitudinale n'influence que très marginalement la stabilité latérale. Les variations ne justifient pas une étude approfondie. → Secondaire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 title="Gyro roul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7050" y="3085676"/>
            <a:ext cx="1737361" cy="1380744"/>
          </a:xfrm>
          <a:prstGeom prst="rect">
            <a:avLst/>
          </a:prstGeom>
          <a:solidFill>
            <a:srgbClr val="EFF6FB"/>
          </a:solidFill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0"/>
              </a:srgbClr>
            </a:outerShdw>
          </a:effectLst>
        </p:spPr>
      </p:pic>
      <p:pic>
        <p:nvPicPr>
          <p:cNvPr id="141" name="Google Shape;141;p6" title="Gyro Tang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975" y="3195947"/>
            <a:ext cx="1870774" cy="1519553"/>
          </a:xfrm>
          <a:prstGeom prst="rect">
            <a:avLst/>
          </a:prstGeom>
          <a:solidFill>
            <a:srgbClr val="EFF6FB"/>
          </a:solidFill>
          <a:ln cap="flat" cmpd="sng" w="25400">
            <a:solidFill>
              <a:srgbClr val="5A7A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0"/>
              </a:srgbClr>
            </a:outerShdw>
          </a:effectLst>
        </p:spPr>
      </p:pic>
      <p:pic>
        <p:nvPicPr>
          <p:cNvPr id="142" name="Google Shape;142;p6" title="foil ma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625" y="3371012"/>
            <a:ext cx="1741086" cy="1169450"/>
          </a:xfrm>
          <a:prstGeom prst="rect">
            <a:avLst/>
          </a:prstGeom>
          <a:noFill/>
          <a:ln cap="flat" cmpd="sng" w="28575">
            <a:solidFill>
              <a:srgbClr val="5A7A8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6" title="zoom ro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4775" y="3085164"/>
            <a:ext cx="1741075" cy="1381761"/>
          </a:xfrm>
          <a:prstGeom prst="rect">
            <a:avLst/>
          </a:prstGeom>
          <a:noFill/>
          <a:ln cap="flat" cmpd="sng" w="285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4" name="Google Shape;144;p6"/>
          <p:cNvCxnSpPr/>
          <p:nvPr/>
        </p:nvCxnSpPr>
        <p:spPr>
          <a:xfrm flipH="1">
            <a:off x="6719450" y="3650450"/>
            <a:ext cx="993000" cy="3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— Nouvelle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 en 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26645" y="100578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Ancienne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26650" y="1358625"/>
            <a:ext cx="1946400" cy="17958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43426" y="1458417"/>
            <a:ext cx="18297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Montage en colonne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2 gyroscopes planifiés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Servomoteur en partie basse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Fixation par pliage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Jamais activé en conditions réelles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380219" y="2080250"/>
            <a:ext cx="698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086046" y="1018354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Nouvelle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086025" y="1358625"/>
            <a:ext cx="2469000" cy="1843200"/>
          </a:xfrm>
          <a:prstGeom prst="rect">
            <a:avLst/>
          </a:prstGeom>
          <a:solidFill>
            <a:srgbClr val="F0FA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078925" y="1402525"/>
            <a:ext cx="2515500" cy="17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Support en U rigide et compact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Axé</a:t>
            </a: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sur le t</a:t>
            </a: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angage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Validé par impression 3D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Cale de rehausse pour jeu fonctionnel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Disque plastique modulable </a:t>
            </a:r>
            <a:endParaRPr b="0" i="0" sz="12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(ajout d'écrous)</a:t>
            </a:r>
            <a:endParaRPr b="0" i="0" sz="12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Usinage du moyeu d'accouplement en aluminium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3189989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Composants du système gyroscopique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3626818"/>
            <a:ext cx="2743200" cy="1188600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C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337560" y="3626818"/>
            <a:ext cx="2743200" cy="1188600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C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94220" y="375197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Motoréducteur</a:t>
            </a:r>
            <a:endParaRPr b="1" i="0" sz="1200" u="none" cap="none" strike="noStrike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↪ redressement de l’assiette</a:t>
            </a:r>
            <a:endParaRPr sz="10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94220" y="4062640"/>
            <a:ext cx="246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RS PRO 12V, 41.3W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Couple 2.5 N.m, 27 tr/min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217920" y="3626818"/>
            <a:ext cx="2743200" cy="1188600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C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355080" y="3740711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Potentiomètre</a:t>
            </a:r>
            <a:endParaRPr b="1" i="0" sz="1200" u="none" cap="none" strike="noStrike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↪ mesure d’angle d’inclinaison</a:t>
            </a:r>
            <a:endParaRPr sz="10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355080" y="4051380"/>
            <a:ext cx="246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RS PRO série 3590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10 tours, haute résolution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18756" r="16943" t="7689"/>
          <a:stretch/>
        </p:blipFill>
        <p:spPr>
          <a:xfrm>
            <a:off x="5113743" y="3751700"/>
            <a:ext cx="865750" cy="9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 title="Capture d’écran 2026-04-23 à 9.46.5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002988" y="3852532"/>
            <a:ext cx="1089776" cy="698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k Ohm 3590S Bourns Precision Multiturn Potentiometer – QuartzComponents" id="170" name="Google Shape;170;p7"/>
          <p:cNvPicPr preferRelativeResize="0"/>
          <p:nvPr/>
        </p:nvPicPr>
        <p:blipFill rotWithShape="1">
          <a:blip r:embed="rId5">
            <a:alphaModFix/>
          </a:blip>
          <a:srcRect b="6450" l="20364" r="13173" t="12414"/>
          <a:stretch/>
        </p:blipFill>
        <p:spPr>
          <a:xfrm>
            <a:off x="8025257" y="3663023"/>
            <a:ext cx="914400" cy="1116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 title="tempImagePrgqKE.gif"/>
          <p:cNvPicPr preferRelativeResize="0"/>
          <p:nvPr/>
        </p:nvPicPr>
        <p:blipFill rotWithShape="1">
          <a:blip r:embed="rId6">
            <a:alphaModFix/>
          </a:blip>
          <a:srcRect b="17868" l="0" r="-1698" t="20393"/>
          <a:stretch/>
        </p:blipFill>
        <p:spPr>
          <a:xfrm>
            <a:off x="5735091" y="1882814"/>
            <a:ext cx="3318104" cy="1510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 title="assemblage.png"/>
          <p:cNvPicPr preferRelativeResize="0"/>
          <p:nvPr/>
        </p:nvPicPr>
        <p:blipFill rotWithShape="1">
          <a:blip r:embed="rId7">
            <a:alphaModFix/>
          </a:blip>
          <a:srcRect b="12042" l="0" r="0" t="0"/>
          <a:stretch/>
        </p:blipFill>
        <p:spPr>
          <a:xfrm flipH="1">
            <a:off x="5735092" y="389525"/>
            <a:ext cx="3318099" cy="13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3518115" y="3778439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Moteur principal</a:t>
            </a:r>
            <a:endParaRPr b="1" i="0" sz="1200" u="none" cap="none" strike="noStrike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↪ rotation du disque d’inertie</a:t>
            </a:r>
            <a:endParaRPr sz="10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518115" y="4089109"/>
            <a:ext cx="246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T-HOBBY AS2308 2600KV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275W, axe 4mm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 flipH="1" rot="10800000">
            <a:off x="8494425" y="2637875"/>
            <a:ext cx="234300" cy="1293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7"/>
          <p:cNvCxnSpPr/>
          <p:nvPr/>
        </p:nvCxnSpPr>
        <p:spPr>
          <a:xfrm flipH="1" rot="10800000">
            <a:off x="5810520" y="2597130"/>
            <a:ext cx="1869000" cy="12525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7"/>
          <p:cNvCxnSpPr/>
          <p:nvPr/>
        </p:nvCxnSpPr>
        <p:spPr>
          <a:xfrm flipH="1" rot="10800000">
            <a:off x="2943500" y="2678675"/>
            <a:ext cx="3453000" cy="1252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8cb59516a_1_2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8cb59516a_1_29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— Nouvelle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 en 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d8cb59516a_1_29" title="Capture d’écran 2026-04-23 à 10.13.13 AM.png"/>
          <p:cNvPicPr preferRelativeResize="0"/>
          <p:nvPr/>
        </p:nvPicPr>
        <p:blipFill rotWithShape="1">
          <a:blip r:embed="rId3">
            <a:alphaModFix/>
          </a:blip>
          <a:srcRect b="58159" l="0" r="0" t="0"/>
          <a:stretch/>
        </p:blipFill>
        <p:spPr>
          <a:xfrm>
            <a:off x="60525" y="195450"/>
            <a:ext cx="7072475" cy="443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d8cb59516a_1_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7" name="Google Shape;187;g3d8cb59516a_1_29" title="Capture d’écran 2026-04-23 à 10.13.13 AM.png"/>
          <p:cNvPicPr preferRelativeResize="0"/>
          <p:nvPr/>
        </p:nvPicPr>
        <p:blipFill rotWithShape="1">
          <a:blip r:embed="rId3">
            <a:alphaModFix/>
          </a:blip>
          <a:srcRect b="21122" l="11328" r="10924" t="41127"/>
          <a:stretch/>
        </p:blipFill>
        <p:spPr>
          <a:xfrm>
            <a:off x="5793750" y="2138900"/>
            <a:ext cx="3230275" cy="23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d8cb59516a_1_29"/>
          <p:cNvSpPr txBox="1"/>
          <p:nvPr/>
        </p:nvSpPr>
        <p:spPr>
          <a:xfrm>
            <a:off x="427800" y="4532400"/>
            <a:ext cx="45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Mise en plan du système gyroscopique complet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d8cb59516a_1_29" title="assemblage.png"/>
          <p:cNvPicPr preferRelativeResize="0"/>
          <p:nvPr/>
        </p:nvPicPr>
        <p:blipFill rotWithShape="1">
          <a:blip r:embed="rId4">
            <a:alphaModFix/>
          </a:blip>
          <a:srcRect b="12042" l="0" r="0" t="0"/>
          <a:stretch/>
        </p:blipFill>
        <p:spPr>
          <a:xfrm>
            <a:off x="628492" y="195450"/>
            <a:ext cx="3318099" cy="1353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8cb59516a_1_46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8cb59516a_1_46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— Nouvelle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 en 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8cb59516a_1_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d8cb59516a_1_46" title="IMG_505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600" y="152400"/>
            <a:ext cx="2721770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8cb59516a_1_46"/>
          <p:cNvSpPr/>
          <p:nvPr/>
        </p:nvSpPr>
        <p:spPr>
          <a:xfrm>
            <a:off x="813570" y="1311337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lang="en-US" sz="1800" u="sng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Mise en fonctionnement des moteurs </a:t>
            </a:r>
            <a:endParaRPr b="0" i="0" sz="1800" u="sng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8cb59516a_1_46"/>
          <p:cNvSpPr/>
          <p:nvPr/>
        </p:nvSpPr>
        <p:spPr>
          <a:xfrm>
            <a:off x="997025" y="1756375"/>
            <a:ext cx="3290700" cy="3036300"/>
          </a:xfrm>
          <a:prstGeom prst="rect">
            <a:avLst/>
          </a:prstGeom>
          <a:solidFill>
            <a:srgbClr val="D0E8F0"/>
          </a:solidFill>
          <a:ln cap="flat" cmpd="sng" w="2147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4575" lIns="154575" spcFirstLastPara="1" rIns="154575" wrap="square" tIns="15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8cb59516a_1_46"/>
          <p:cNvSpPr/>
          <p:nvPr/>
        </p:nvSpPr>
        <p:spPr>
          <a:xfrm>
            <a:off x="1095575" y="1996121"/>
            <a:ext cx="30936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275" lIns="154575" spcFirstLastPara="1" rIns="154575" wrap="square" tIns="77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600" u="sng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Moteur principal : </a:t>
            </a:r>
            <a:endParaRPr b="1" sz="1600" u="sng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↪ rotation du disque d’inertie</a:t>
            </a:r>
            <a:endParaRPr b="1" sz="16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contrôle à l’aide de la télécommande </a:t>
            </a:r>
            <a:endParaRPr sz="16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29"/>
              <a:buFont typeface="Calibri"/>
              <a:buNone/>
            </a:pPr>
            <a:r>
              <a:rPr b="1" lang="en-US" sz="1629" u="sng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Motoréducteur</a:t>
            </a:r>
            <a:r>
              <a:rPr lang="en-US" sz="1529" u="sng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529" u="sng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529" u="sng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↪ redressement de l’assiette </a:t>
            </a:r>
            <a:endParaRPr b="1" sz="16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soutien du groupe de Sophia et Raphaël pour le démarrage (Matlab)</a:t>
            </a:r>
            <a:endParaRPr sz="16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E"/>
          </a:solidFill>
          <a:ln cap="flat" cmpd="sng" w="12700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— Système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mbarqué : Hardware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Architecture électronique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140950" y="1143005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186670" y="1188725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Batterie 3S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186670" y="1554485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Source unique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216630" y="3127193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5A7A8A"/>
          </a:solidFill>
          <a:ln cap="flat" cmpd="sng" w="12700">
            <a:solidFill>
              <a:srgbClr val="5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262350" y="3172913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Buck Converter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262350" y="3538673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12V → 5V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140950" y="2057405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186670" y="2103125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Raspberry Pi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Navigator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186670" y="2468885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Cœur de contrôle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216645" y="1211580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7262390" y="1188738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 ×3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262365" y="1554472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Propulsion + gyro spin </a:t>
            </a:r>
            <a:r>
              <a:rPr lang="en-US" sz="1200">
                <a:solidFill>
                  <a:srgbClr val="BFBFBF"/>
                </a:solidFill>
                <a:highlight>
                  <a:srgbClr val="1F1F1F"/>
                </a:highlight>
              </a:rPr>
              <a:t>⚠️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140935" y="3127210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186655" y="317293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Récepteur RC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186618" y="3483828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Taranis QX7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216645" y="2103123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262365" y="2148843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Moteurs ×3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262365" y="2514603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M1/M2 propulsion, M3 gyro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183275" y="4197010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021B3E"/>
          </a:solidFill>
          <a:ln cap="flat" cmpd="sng" w="12700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228995" y="424273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Capteur Ultrason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229000" y="4571888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8F8"/>
                </a:solidFill>
                <a:latin typeface="Calibri"/>
                <a:ea typeface="Calibri"/>
                <a:cs typeface="Calibri"/>
                <a:sym typeface="Calibri"/>
              </a:rPr>
              <a:t>Hauteur de vol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8" title="Schema_el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26" y="1417325"/>
            <a:ext cx="4367501" cy="355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E"/>
          </a:solidFill>
          <a:ln cap="flat" cmpd="sng" w="12700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— BlueOS &amp;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cripts Lua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BlueOS (Blue Robotics)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Scripts Lua développés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754880" y="1554480"/>
            <a:ext cx="3931920" cy="914400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C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754880" y="1554480"/>
            <a:ext cx="54864" cy="9144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892040" y="16184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Code moteurs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892040" y="19659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Lecture canaux RC → mixage gaz/direction → commande différentielle M1/M2. Limites vitesse 33/67/100%. Armement par interrupteur.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754880" y="2578608"/>
            <a:ext cx="3931920" cy="914400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C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754880" y="2578608"/>
            <a:ext cx="54864" cy="9144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892040" y="264261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Code gyroscope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892040" y="29900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3 modes de vitesse gyro avec rampe de montée progressive pour éviter les à-coups.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754880" y="3602736"/>
            <a:ext cx="3931920" cy="914400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C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754880" y="3602736"/>
            <a:ext cx="54864" cy="9144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892040" y="366674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Code hauteur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892040" y="401421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Lecture capteur ultrason via port Série. Envoi distance à ArduPilot. Seuils d'urgence (45 cm, 55 cm).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9" title="Capture d'écran 2026-04-15 1543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5" y="2027060"/>
            <a:ext cx="4450079" cy="2017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E"/>
          </a:solidFill>
          <a:ln cap="flat" cmpd="sng" w="12700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— Télécommande Taranis QX7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Mapping des 8 canaux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457200" y="1600200"/>
            <a:ext cx="45720" cy="56692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94360" y="167335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CH1 — Axe vertical gauche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496755" y="172364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Vitesse de rotation des moteurs (gaz)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57200" y="2258568"/>
            <a:ext cx="45720" cy="56692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594360" y="233172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CH4 — Axe horizontal gauche</a:t>
            </a:r>
            <a:endParaRPr b="0" i="0" sz="13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2653555" y="2382009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Différentiel gauche/droite (direction)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457200" y="2916936"/>
            <a:ext cx="45720" cy="5669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94360" y="299008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CH5 — Interrupteur rouge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2434030" y="3040377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Armer / désarmer les moteurs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457200" y="3575304"/>
            <a:ext cx="45720" cy="566928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94360" y="3648456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CH6 — Interrupteur vert (3 pos.)</a:t>
            </a:r>
            <a:endParaRPr b="0" i="0" sz="13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904480" y="3698757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Bridage puissance : 33 % / 67 % / 100 %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457200" y="4233672"/>
            <a:ext cx="45720" cy="56692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594360" y="4306824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CH8 — Interrupteur gyro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360855" y="4347963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Vitesse gyroscope : 0 / 1600 / 1700 PWM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Protocole d'armement : pré-arm checks ArduPilot → remise au neutre des joysticks → validation capteurs → armement interrupteur rouge.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0" title="Image 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750" y="1005850"/>
            <a:ext cx="3336768" cy="37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0"/>
          <p:cNvSpPr/>
          <p:nvPr/>
        </p:nvSpPr>
        <p:spPr>
          <a:xfrm>
            <a:off x="8437675" y="1860125"/>
            <a:ext cx="350400" cy="471600"/>
          </a:xfrm>
          <a:prstGeom prst="ellipse">
            <a:avLst/>
          </a:prstGeom>
          <a:noFill/>
          <a:ln cap="flat" cmpd="sng" w="381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E"/>
          </a:solidFill>
          <a:ln cap="flat" cmpd="sng" w="12700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— Capteur de Hauteur A0221AU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Caractéristiques &amp; intégration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État actuel &amp; prochaine étape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754880" y="1600200"/>
            <a:ext cx="3931920" cy="74980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892040" y="165506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✓ Physiquement intégré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89204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Capteur monté sous le drone, câblage complet.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754880" y="2441448"/>
            <a:ext cx="3931920" cy="74980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892040" y="249631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✓ Signal électrique 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892040" y="28072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Oscilloscope confirme signal proportionnel à la distance.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754880" y="3282696"/>
            <a:ext cx="3931920" cy="74980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892040" y="33375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⚠ Lecture logicielle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892040" y="364845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BlueOS n'interprète pas nativement le protocole → résultats incohérents actuellement.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754880" y="4123944"/>
            <a:ext cx="3931920" cy="749808"/>
          </a:xfrm>
          <a:prstGeom prst="rect">
            <a:avLst/>
          </a:prstGeom>
          <a:solidFill>
            <a:srgbClr val="EFF6FB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892040" y="4178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 Objectif suivant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892040" y="44897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Stabiliser la communication série → asservissement altitude cible via algorithme Lua.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1" title="IMG_500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75" y="1443675"/>
            <a:ext cx="2611749" cy="3482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5 — Maquette : Planche &amp; Stabilisateurs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756200" y="1072950"/>
            <a:ext cx="1751400" cy="917400"/>
          </a:xfrm>
          <a:prstGeom prst="rect">
            <a:avLst/>
          </a:prstGeom>
          <a:solidFill>
            <a:srgbClr val="021B3E"/>
          </a:solidFill>
          <a:ln cap="flat" cmpd="sng" w="11575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  <a:effectLst>
            <a:outerShdw blurRad="92675" rotWithShape="0" algn="bl" dir="8100000" dist="34753">
              <a:srgbClr val="000000">
                <a:alpha val="12941"/>
              </a:srgbClr>
            </a:outerShdw>
          </a:effectLst>
        </p:spPr>
        <p:txBody>
          <a:bodyPr anchorCtr="0" anchor="ctr" bIns="83400" lIns="83400" spcFirstLastPara="1" rIns="83400" wrap="square" tIns="8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756200" y="1114654"/>
            <a:ext cx="1751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59"/>
              <a:buFont typeface="Calibri"/>
              <a:buNone/>
            </a:pPr>
            <a:r>
              <a:rPr b="1" i="0" lang="en-US" sz="14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40 × 57 × 5,7 cm</a:t>
            </a:r>
            <a:endParaRPr b="0" i="0" sz="14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56200" y="1590080"/>
            <a:ext cx="17514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0D8"/>
              </a:buClr>
              <a:buSzPts val="912"/>
              <a:buFont typeface="Calibri"/>
              <a:buNone/>
            </a:pPr>
            <a:r>
              <a:rPr b="0" i="0" lang="en-US" sz="912" u="none" cap="none" strike="noStrike">
                <a:solidFill>
                  <a:srgbClr val="A0C0D8"/>
                </a:solidFill>
                <a:latin typeface="Calibri"/>
                <a:ea typeface="Calibri"/>
                <a:cs typeface="Calibri"/>
                <a:sym typeface="Calibri"/>
              </a:rPr>
              <a:t>Dimensions finales</a:t>
            </a:r>
            <a:endParaRPr b="0" i="0" sz="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2716265" y="1072950"/>
            <a:ext cx="1751400" cy="917400"/>
          </a:xfrm>
          <a:prstGeom prst="rect">
            <a:avLst/>
          </a:prstGeom>
          <a:solidFill>
            <a:srgbClr val="021B3E"/>
          </a:solidFill>
          <a:ln cap="flat" cmpd="sng" w="11575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  <a:effectLst>
            <a:outerShdw blurRad="92675" rotWithShape="0" algn="bl" dir="8100000" dist="34753">
              <a:srgbClr val="000000">
                <a:alpha val="12941"/>
              </a:srgbClr>
            </a:outerShdw>
          </a:effectLst>
        </p:spPr>
        <p:txBody>
          <a:bodyPr anchorCtr="0" anchor="ctr" bIns="83400" lIns="83400" spcFirstLastPara="1" rIns="83400" wrap="square" tIns="8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2716265" y="1114654"/>
            <a:ext cx="1751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59"/>
              <a:buFont typeface="Calibri"/>
              <a:buNone/>
            </a:pPr>
            <a:r>
              <a:rPr b="1" i="0" lang="en-US" sz="14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~10 L</a:t>
            </a:r>
            <a:endParaRPr b="0" i="0" sz="14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2716265" y="1590080"/>
            <a:ext cx="17514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0D8"/>
              </a:buClr>
              <a:buSzPts val="912"/>
              <a:buFont typeface="Calibri"/>
              <a:buNone/>
            </a:pPr>
            <a:r>
              <a:rPr b="0" i="0" lang="en-US" sz="912" u="none" cap="none" strike="noStrike">
                <a:solidFill>
                  <a:srgbClr val="A0C0D8"/>
                </a:solidFill>
                <a:latin typeface="Calibri"/>
                <a:ea typeface="Calibri"/>
                <a:cs typeface="Calibri"/>
                <a:sym typeface="Calibri"/>
              </a:rPr>
              <a:t>Volume / flottabilité</a:t>
            </a:r>
            <a:endParaRPr b="0" i="0" sz="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676330" y="1072950"/>
            <a:ext cx="1751400" cy="917400"/>
          </a:xfrm>
          <a:prstGeom prst="rect">
            <a:avLst/>
          </a:prstGeom>
          <a:solidFill>
            <a:srgbClr val="021B3E"/>
          </a:solidFill>
          <a:ln cap="flat" cmpd="sng" w="11575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  <a:effectLst>
            <a:outerShdw blurRad="92675" rotWithShape="0" algn="bl" dir="8100000" dist="34753">
              <a:srgbClr val="000000">
                <a:alpha val="12941"/>
              </a:srgbClr>
            </a:outerShdw>
          </a:effectLst>
        </p:spPr>
        <p:txBody>
          <a:bodyPr anchorCtr="0" anchor="ctr" bIns="83400" lIns="83400" spcFirstLastPara="1" rIns="83400" wrap="square" tIns="8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4676330" y="1114654"/>
            <a:ext cx="1751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59"/>
              <a:buFont typeface="Calibri"/>
              <a:buNone/>
            </a:pPr>
            <a:r>
              <a:rPr b="1" i="0" lang="en-US" sz="14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4,1 kg</a:t>
            </a:r>
            <a:endParaRPr b="0" i="0" sz="14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676330" y="1590080"/>
            <a:ext cx="17514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0D8"/>
              </a:buClr>
              <a:buSzPts val="912"/>
              <a:buFont typeface="Calibri"/>
              <a:buNone/>
            </a:pPr>
            <a:r>
              <a:rPr b="0" i="0" lang="en-US" sz="912" u="none" cap="none" strike="noStrike">
                <a:solidFill>
                  <a:srgbClr val="A0C0D8"/>
                </a:solidFill>
                <a:latin typeface="Calibri"/>
                <a:ea typeface="Calibri"/>
                <a:cs typeface="Calibri"/>
                <a:sym typeface="Calibri"/>
              </a:rPr>
              <a:t>Masse totale (sans gyro)</a:t>
            </a:r>
            <a:endParaRPr b="0" i="0" sz="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636395" y="1072950"/>
            <a:ext cx="1751400" cy="917400"/>
          </a:xfrm>
          <a:prstGeom prst="rect">
            <a:avLst/>
          </a:prstGeom>
          <a:solidFill>
            <a:srgbClr val="021B3E"/>
          </a:solidFill>
          <a:ln cap="flat" cmpd="sng" w="11575">
            <a:solidFill>
              <a:srgbClr val="021B3E"/>
            </a:solidFill>
            <a:prstDash val="solid"/>
            <a:round/>
            <a:headEnd len="sm" w="sm" type="none"/>
            <a:tailEnd len="sm" w="sm" type="none"/>
          </a:ln>
          <a:effectLst>
            <a:outerShdw blurRad="92675" rotWithShape="0" algn="bl" dir="8100000" dist="34753">
              <a:srgbClr val="000000">
                <a:alpha val="12941"/>
              </a:srgbClr>
            </a:outerShdw>
          </a:effectLst>
        </p:spPr>
        <p:txBody>
          <a:bodyPr anchorCtr="0" anchor="ctr" bIns="83400" lIns="83400" spcFirstLastPara="1" rIns="83400" wrap="square" tIns="8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636395" y="1114654"/>
            <a:ext cx="1751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59"/>
              <a:buFont typeface="Calibri"/>
              <a:buNone/>
            </a:pPr>
            <a:r>
              <a:rPr b="1" i="0" lang="en-US" sz="14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~5 kg</a:t>
            </a:r>
            <a:endParaRPr b="0" i="0" sz="14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636395" y="1590080"/>
            <a:ext cx="17514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0D8"/>
              </a:buClr>
              <a:buSzPts val="912"/>
              <a:buFont typeface="Calibri"/>
              <a:buNone/>
            </a:pPr>
            <a:r>
              <a:rPr b="0" i="0" lang="en-US" sz="912" u="none" cap="none" strike="noStrike">
                <a:solidFill>
                  <a:srgbClr val="A0C0D8"/>
                </a:solidFill>
                <a:latin typeface="Calibri"/>
                <a:ea typeface="Calibri"/>
                <a:cs typeface="Calibri"/>
                <a:sym typeface="Calibri"/>
              </a:rPr>
              <a:t>Masse totale (avec gyro)</a:t>
            </a:r>
            <a:endParaRPr b="0" i="0" sz="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56688" y="2124388"/>
            <a:ext cx="2012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Conception de la planche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3705413" y="2124388"/>
            <a:ext cx="1824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Stabilisateurs latéraux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131200" y="2138188"/>
            <a:ext cx="155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Boîte de dérivation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2" title="wingfoil (1).png"/>
          <p:cNvPicPr preferRelativeResize="0"/>
          <p:nvPr/>
        </p:nvPicPr>
        <p:blipFill rotWithShape="1">
          <a:blip r:embed="rId3">
            <a:alphaModFix/>
          </a:blip>
          <a:srcRect b="0" l="68194" r="8634" t="0"/>
          <a:stretch/>
        </p:blipFill>
        <p:spPr>
          <a:xfrm rot="5400000">
            <a:off x="1297432" y="1650769"/>
            <a:ext cx="469315" cy="292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2" title="planch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1" y="4129661"/>
            <a:ext cx="2927765" cy="620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2" title="flotteur2 (1).png"/>
          <p:cNvPicPr preferRelativeResize="0"/>
          <p:nvPr/>
        </p:nvPicPr>
        <p:blipFill rotWithShape="1">
          <a:blip r:embed="rId5">
            <a:alphaModFix/>
          </a:blip>
          <a:srcRect b="0" l="18745" r="0" t="33595"/>
          <a:stretch/>
        </p:blipFill>
        <p:spPr>
          <a:xfrm>
            <a:off x="3038375" y="2880012"/>
            <a:ext cx="3310313" cy="192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2" title="boî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6049" y="2491410"/>
            <a:ext cx="2012101" cy="2588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5 — Foil </a:t>
            </a:r>
            <a:r>
              <a:rPr b="1" lang="en-US" sz="26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uto adaptatif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82275" y="1086850"/>
            <a:ext cx="2955900" cy="18927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219435" y="117828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Problème : Foil en 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219425" y="1608050"/>
            <a:ext cx="2638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Surface de portance constante → pas de stabilisation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Décrochage non maîtrisé même en repositionnant le centre de masse.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82275" y="3060650"/>
            <a:ext cx="2955900" cy="1892700"/>
          </a:xfrm>
          <a:prstGeom prst="rect">
            <a:avLst/>
          </a:prstGeom>
          <a:solidFill>
            <a:srgbClr val="F0FA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219440" y="315210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Solution : Foil à surface variable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219450" y="3581875"/>
            <a:ext cx="281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uand le foil se lève, la surface immergée diminue → portance réduite → stabilisation à vitesse constante.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3" title="VisuelFoilComple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7174" y="1108175"/>
            <a:ext cx="1872299" cy="1850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3" title="foil_horizontal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9675" y="3060650"/>
            <a:ext cx="1969862" cy="19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3" title="foil_nu1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8150" y="3060550"/>
            <a:ext cx="2111526" cy="19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3" title="foil_vertical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9525" y="3060650"/>
            <a:ext cx="1523005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5 — Résultats des </a:t>
            </a:r>
            <a:r>
              <a:rPr b="1" lang="en-US" sz="26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2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ssais en </a:t>
            </a:r>
            <a:r>
              <a:rPr b="1" lang="en-US" sz="26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-US" sz="26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assin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457200" y="658385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Conditions : 4,12 kg, sans gyroscope — bassin SeaTech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7568108" y="2883650"/>
            <a:ext cx="157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Foil en T (classique)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" y="2226550"/>
            <a:ext cx="262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Foil à moustache (auto-adaptatif)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4" title="decoll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638" y="1005775"/>
            <a:ext cx="5620573" cy="18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4" title="IMG_624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601050"/>
            <a:ext cx="3353875" cy="25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— Axes d'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385388" y="1097275"/>
            <a:ext cx="4051500" cy="1152600"/>
          </a:xfrm>
          <a:prstGeom prst="rect">
            <a:avLst/>
          </a:prstGeom>
          <a:solidFill>
            <a:srgbClr val="EFF6FB"/>
          </a:solidFill>
          <a:ln cap="flat" cmpd="sng" w="125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0040" rotWithShape="0" algn="bl" dir="8100000" dist="37515">
              <a:srgbClr val="000000">
                <a:alpha val="12941"/>
              </a:srgbClr>
            </a:outerShdw>
          </a:effectLst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457200" y="1094600"/>
            <a:ext cx="54900" cy="11526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81292" y="1111489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Commande altitude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30100" y="1298025"/>
            <a:ext cx="40515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Finalis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ation de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la lecture du capteur ultrason sous BlueOS </a:t>
            </a:r>
            <a:endParaRPr b="0" i="0" sz="1182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Développe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ment de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l'algorithme : accélérer si h &lt; cible, décélérer si h &gt; cible</a:t>
            </a:r>
            <a:endParaRPr b="0" i="0" sz="1182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Essais pour déterminer la hauteur et vitesse idéales</a:t>
            </a:r>
            <a:endParaRPr b="0" i="0" sz="1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707104" y="1097275"/>
            <a:ext cx="4051500" cy="1152600"/>
          </a:xfrm>
          <a:prstGeom prst="rect">
            <a:avLst/>
          </a:prstGeom>
          <a:solidFill>
            <a:srgbClr val="EFF6FB"/>
          </a:solidFill>
          <a:ln cap="flat" cmpd="sng" w="125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0040" rotWithShape="0" algn="bl" dir="8100000" dist="37515">
              <a:srgbClr val="000000">
                <a:alpha val="12941"/>
              </a:srgbClr>
            </a:outerShdw>
          </a:effectLst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4707104" y="1097275"/>
            <a:ext cx="54000" cy="1152600"/>
          </a:xfrm>
          <a:prstGeom prst="rect">
            <a:avLst/>
          </a:prstGeom>
          <a:solidFill>
            <a:srgbClr val="065A82"/>
          </a:solidFill>
          <a:ln cap="flat" cmpd="sng" w="125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010912" y="1107239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ESC pour précession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869168" y="1435088"/>
            <a:ext cx="36915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Acqu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isition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ESC brushed 3S capable de ≥ 5,5 A (ex. Hobbywing QuicRun 1060) pour activer le moteur de précession du gyroscope</a:t>
            </a:r>
            <a:endParaRPr b="0" i="0" sz="1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385388" y="2375783"/>
            <a:ext cx="4051500" cy="1152600"/>
          </a:xfrm>
          <a:prstGeom prst="rect">
            <a:avLst/>
          </a:prstGeom>
          <a:solidFill>
            <a:srgbClr val="EFF6FB"/>
          </a:solidFill>
          <a:ln cap="flat" cmpd="sng" w="125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0040" rotWithShape="0" algn="bl" dir="8100000" dist="37515">
              <a:srgbClr val="000000">
                <a:alpha val="12941"/>
              </a:srgbClr>
            </a:outerShdw>
          </a:effectLst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457200" y="2375350"/>
            <a:ext cx="54900" cy="11703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18748" y="2385589"/>
            <a:ext cx="3691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Double gyroscope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466577" y="2713600"/>
            <a:ext cx="38718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0119" lvl="0" marL="450179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Usinage du moyeu d’accouplement en aluminium</a:t>
            </a:r>
            <a:endParaRPr sz="1182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0119" lvl="0" marL="450179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ntégr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ation des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2 gyroscopes 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tangage 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roulis  </a:t>
            </a:r>
            <a:endParaRPr sz="1182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0119" lvl="0" marL="450179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Adapt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ation de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la boîte de dérivation : comment l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 fixer</a:t>
            </a:r>
            <a:endParaRPr b="0" i="0" sz="1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4707104" y="2375783"/>
            <a:ext cx="4051500" cy="1152600"/>
          </a:xfrm>
          <a:prstGeom prst="rect">
            <a:avLst/>
          </a:prstGeom>
          <a:solidFill>
            <a:srgbClr val="EFF6FB"/>
          </a:solidFill>
          <a:ln cap="flat" cmpd="sng" w="125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0040" rotWithShape="0" algn="bl" dir="8100000" dist="37515">
              <a:srgbClr val="000000">
                <a:alpha val="12941"/>
              </a:srgbClr>
            </a:outerShdw>
          </a:effectLst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4707104" y="2365598"/>
            <a:ext cx="54000" cy="1152600"/>
          </a:xfrm>
          <a:prstGeom prst="rect">
            <a:avLst/>
          </a:prstGeom>
          <a:solidFill>
            <a:srgbClr val="1C7293"/>
          </a:solidFill>
          <a:ln cap="flat" cmpd="sng" w="125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4869168" y="2385589"/>
            <a:ext cx="3691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Potentiomètre gyroscopique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806920" y="2713587"/>
            <a:ext cx="38718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0119" lvl="0" marL="450179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Câbl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RS PRO 3590 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carte Navigator pour mesures angulaires en temps réel</a:t>
            </a:r>
            <a:endParaRPr sz="1182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0179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↪ i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ndispensable pour la boucle fermée de stabilisation</a:t>
            </a:r>
            <a:endParaRPr b="0" i="0" sz="1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385388" y="3654292"/>
            <a:ext cx="4051500" cy="1152600"/>
          </a:xfrm>
          <a:prstGeom prst="rect">
            <a:avLst/>
          </a:prstGeom>
          <a:solidFill>
            <a:srgbClr val="EFF6FB"/>
          </a:solidFill>
          <a:ln cap="flat" cmpd="sng" w="125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0040" rotWithShape="0" algn="bl" dir="8100000" dist="37515">
              <a:srgbClr val="000000">
                <a:alpha val="12941"/>
              </a:srgbClr>
            </a:outerShdw>
          </a:effectLst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457200" y="3644100"/>
            <a:ext cx="54900" cy="11703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628932" y="3664100"/>
            <a:ext cx="246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Foil amélioré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547452" y="3992104"/>
            <a:ext cx="36915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Augment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ation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de la surface du foil auto adaptatif ou son angle d'incidence pour faciliter le décollage (vitesse nécessaire encore trop élevée)</a:t>
            </a:r>
            <a:endParaRPr b="0" i="0" sz="1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4707104" y="3654292"/>
            <a:ext cx="4051500" cy="1152600"/>
          </a:xfrm>
          <a:prstGeom prst="rect">
            <a:avLst/>
          </a:prstGeom>
          <a:solidFill>
            <a:srgbClr val="EFF6FB"/>
          </a:solidFill>
          <a:ln cap="flat" cmpd="sng" w="12500">
            <a:solidFill>
              <a:srgbClr val="5A7A8A"/>
            </a:solidFill>
            <a:prstDash val="solid"/>
            <a:round/>
            <a:headEnd len="sm" w="sm" type="none"/>
            <a:tailEnd len="sm" w="sm" type="none"/>
          </a:ln>
          <a:effectLst>
            <a:outerShdw blurRad="100040" rotWithShape="0" algn="bl" dir="8100000" dist="37515">
              <a:srgbClr val="000000">
                <a:alpha val="12941"/>
              </a:srgbClr>
            </a:outerShdw>
          </a:effectLst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4707104" y="3654292"/>
            <a:ext cx="54000" cy="1152600"/>
          </a:xfrm>
          <a:prstGeom prst="rect">
            <a:avLst/>
          </a:prstGeom>
          <a:solidFill>
            <a:srgbClr val="5A7A8A"/>
          </a:solidFill>
          <a:ln cap="flat" cmpd="sng" w="12500">
            <a:solidFill>
              <a:srgbClr val="5A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25" lIns="90025" spcFirstLastPara="1" rIns="90025" wrap="square" tIns="9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4869168" y="3664098"/>
            <a:ext cx="3691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3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Coque &amp; protocoles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4869168" y="3992104"/>
            <a:ext cx="36915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Adapt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ation de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la taille du boîtier aux gyroscopes définitifs</a:t>
            </a:r>
            <a:endParaRPr b="0" i="0" sz="1182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363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82"/>
              <a:buFont typeface="Calibri"/>
              <a:buChar char="-"/>
            </a:pP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Établi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ssement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182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b="0" i="0" lang="en-US" sz="1182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protocole d'essai normalisé (masse, position boîte, foil, puissance...).</a:t>
            </a:r>
            <a:endParaRPr b="0" i="0" sz="1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E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Réalisations clées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57200" y="1572768"/>
            <a:ext cx="3931920" cy="566928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594360" y="1627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F0DC"/>
                </a:solidFill>
                <a:latin typeface="Calibri"/>
                <a:ea typeface="Calibri"/>
                <a:cs typeface="Calibri"/>
                <a:sym typeface="Calibri"/>
              </a:rPr>
              <a:t>✓  Architecture gyroscopique en U — plus rigide, compacte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57200" y="2258568"/>
            <a:ext cx="3931920" cy="566928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594360" y="23134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F0DC"/>
                </a:solidFill>
                <a:latin typeface="Calibri"/>
                <a:ea typeface="Calibri"/>
                <a:cs typeface="Calibri"/>
                <a:sym typeface="Calibri"/>
              </a:rPr>
              <a:t>✓  Foil autoadaptatif conçu sous SolidWorks — validé par impression 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57200" y="2944368"/>
            <a:ext cx="3931920" cy="566928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594360" y="29992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F0DC"/>
                </a:solidFill>
                <a:latin typeface="Calibri"/>
                <a:ea typeface="Calibri"/>
                <a:cs typeface="Calibri"/>
                <a:sym typeface="Calibri"/>
              </a:rPr>
              <a:t>✓  Système embarqué fonctionnel : BlueOS + Lua + Taranis QX7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457200" y="3630168"/>
            <a:ext cx="3931920" cy="566928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594360" y="3685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F0DC"/>
                </a:solidFill>
                <a:latin typeface="Calibri"/>
                <a:ea typeface="Calibri"/>
                <a:cs typeface="Calibri"/>
                <a:sym typeface="Calibri"/>
              </a:rPr>
              <a:t>✓  Décollages répétables en bassin (4,1 kg, sans gyroscope)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Points restants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4754880" y="1572768"/>
            <a:ext cx="3931920" cy="713232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4892040" y="162763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D0A0"/>
                </a:solidFill>
                <a:latin typeface="Calibri"/>
                <a:ea typeface="Calibri"/>
                <a:cs typeface="Calibri"/>
                <a:sym typeface="Calibri"/>
              </a:rPr>
              <a:t>→  Lecture capteur ultrason BlueOS → régulation altitude automatique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4754880" y="2414016"/>
            <a:ext cx="3931920" cy="713232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4892040" y="246888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D0A0"/>
                </a:solidFill>
                <a:latin typeface="Calibri"/>
                <a:ea typeface="Calibri"/>
                <a:cs typeface="Calibri"/>
                <a:sym typeface="Calibri"/>
              </a:rPr>
              <a:t>→  ESC adapté pour activer le moteur de précession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754880" y="3255264"/>
            <a:ext cx="3931920" cy="713232"/>
          </a:xfrm>
          <a:prstGeom prst="rect">
            <a:avLst/>
          </a:prstGeom>
          <a:solidFill>
            <a:srgbClr val="0A2A3E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4892040" y="331012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0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D0A0"/>
                </a:solidFill>
                <a:latin typeface="Calibri"/>
                <a:ea typeface="Calibri"/>
                <a:cs typeface="Calibri"/>
                <a:sym typeface="Calibri"/>
              </a:rPr>
              <a:t>→  Stabilisation automatique en altitude </a:t>
            </a:r>
            <a:r>
              <a:rPr lang="en-US" sz="1100">
                <a:solidFill>
                  <a:srgbClr val="FFD0A0"/>
                </a:solidFill>
                <a:latin typeface="Calibri"/>
                <a:ea typeface="Calibri"/>
                <a:cs typeface="Calibri"/>
                <a:sym typeface="Calibri"/>
              </a:rPr>
              <a:t>pas</a:t>
            </a:r>
            <a:r>
              <a:rPr b="0" i="0" lang="en-US" sz="1100" u="none" cap="none" strike="noStrike">
                <a:solidFill>
                  <a:srgbClr val="FFD0A0"/>
                </a:solidFill>
                <a:latin typeface="Calibri"/>
                <a:ea typeface="Calibri"/>
                <a:cs typeface="Calibri"/>
                <a:sym typeface="Calibri"/>
              </a:rPr>
              <a:t> encore opérationnelle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C7293">
              <a:alpha val="70196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pour votre attention — Questions 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8cb59516a_1_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g3d8cb59516a_1_96" title="Capture d’écran 2026-04-23 à 11.40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75" y="349225"/>
            <a:ext cx="8188253" cy="444505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d8cb59516a_1_96"/>
          <p:cNvSpPr txBox="1"/>
          <p:nvPr/>
        </p:nvSpPr>
        <p:spPr>
          <a:xfrm>
            <a:off x="987500" y="4542225"/>
            <a:ext cx="45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21B3E"/>
                </a:solidFill>
                <a:latin typeface="Calibri"/>
                <a:ea typeface="Calibri"/>
                <a:cs typeface="Calibri"/>
                <a:sym typeface="Calibri"/>
              </a:rPr>
              <a:t>Mise en plan du moyeu d’accouplement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8cb59516a_1_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g3d8cb59516a_1_10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53" y="0"/>
            <a:ext cx="407057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d8cb59516a_1_103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135" y="0"/>
            <a:ext cx="399906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8cb59516a_1_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g3d8cb59516a_1_111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883" y="343675"/>
            <a:ext cx="5640230" cy="445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2026-04-22T21:19:30Z</dcterms:created>
  <dc:creator>PptxGenJS</dc:creator>
</cp:coreProperties>
</file>